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234440"/>
            <a:ext cx="12191695" cy="1609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0" b="1" spc="600">
                <a:solidFill>
                  <a:srgbClr val="B82E28"/>
                </a:solidFill>
                <a:latin typeface="Georgia"/>
              </a:rPr>
              <a:t>ARIAS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78024"/>
            <a:ext cx="12191695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8C221D"/>
                </a:solidFill>
                <a:latin typeface="Calibri"/>
              </a:rPr>
              <a:t>B O D E G Ó N   ·   P A R R I L L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7207" y="3246120"/>
            <a:ext cx="1097280" cy="27940"/>
          </a:xfrm>
          <a:prstGeom prst="rect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Sistema de pedidos empresariales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8899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B6054"/>
                </a:solidFill>
                <a:latin typeface="Calibri"/>
              </a:rPr>
              <a:t>Una plataforma real para que las empresas de la zona pidan el almuerzo diario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B6054"/>
                </a:solidFill>
                <a:latin typeface="Calibri"/>
              </a:rPr>
              <a:t>de sus empleados, y el bodegón gestione todo desde un mismo lugar.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2B221B"/>
                </a:solidFill>
                <a:latin typeface="Calibri"/>
              </a:rPr>
              <a:t>Trabajo de Fin de Máster · Máster de Desarrollo con IA — BIG School</a:t>
            </a:r>
          </a:p>
          <a:p>
            <a:pPr algn="ctr">
              <a:lnSpc>
                <a:spcPct val="135000"/>
              </a:lnSpc>
            </a:pPr>
            <a:r>
              <a:rPr sz="1300" b="0">
                <a:solidFill>
                  <a:srgbClr val="2B221B"/>
                </a:solidFill>
                <a:latin typeface="Calibri"/>
              </a:rPr>
              <a:t>Santiago Nevado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EL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Un bodegón real, con clientes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8C221D"/>
                </a:solidFill>
                <a:latin typeface="Calibri"/>
              </a:rPr>
              <a:t>—  Arias</a:t>
            </a:r>
            <a:r>
              <a:rPr sz="1500" b="0">
                <a:solidFill>
                  <a:srgbClr val="6B6054"/>
                </a:solidFill>
                <a:latin typeface="Calibri"/>
              </a:rPr>
              <a:t>  bodegón-parrilla en funcionamiento desde 2015, con empresas de la zona
que encargan el almuerzo de sus empleados todos los días.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8C221D"/>
                </a:solidFill>
                <a:latin typeface="Calibri"/>
              </a:rPr>
              <a:t>—  El problema</a:t>
            </a:r>
            <a:r>
              <a:rPr sz="1500" b="0">
                <a:solidFill>
                  <a:srgbClr val="6B6054"/>
                </a:solidFill>
                <a:latin typeface="Calibri"/>
              </a:rPr>
              <a:t>  esa coordinación se manejaba a mano: planillas, WhatsApp, llamados —
sin catálogo único, sin control de precios por empresa, sin visibilidad de
qué se pidió ni cuándo hay que cerrar el pedido.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1">
                <a:solidFill>
                  <a:srgbClr val="8C221D"/>
                </a:solidFill>
                <a:latin typeface="Calibri"/>
              </a:rPr>
              <a:t>—  El objetivo</a:t>
            </a:r>
            <a:r>
              <a:rPr sz="1500" b="0">
                <a:solidFill>
                  <a:srgbClr val="6B6054"/>
                </a:solidFill>
                <a:latin typeface="Calibri"/>
              </a:rPr>
              <a:t>  reemplazar ese proceso manual por una aplicación real que hoy usa el
bodegón y sus empresas clientes en producción.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Qué es 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550" b="1">
                <a:solidFill>
                  <a:srgbClr val="8C221D"/>
                </a:solidFill>
                <a:latin typeface="Calibri"/>
              </a:rPr>
              <a:t>—  Multi-tenant por empresa</a:t>
            </a:r>
            <a:r>
              <a:rPr sz="1450" b="0">
                <a:solidFill>
                  <a:srgbClr val="6B6054"/>
                </a:solidFill>
                <a:latin typeface="Calibri"/>
              </a:rPr>
              <a:t>  cada empresa cliente tiene su propio
precio por categoría y su propia nómina de empleados.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550" b="1">
                <a:solidFill>
                  <a:srgbClr val="8C221D"/>
                </a:solidFill>
                <a:latin typeface="Calibri"/>
              </a:rPr>
              <a:t>—  Tres roles</a:t>
            </a:r>
            <a:r>
              <a:rPr sz="1450" b="0">
                <a:solidFill>
                  <a:srgbClr val="6B6054"/>
                </a:solidFill>
                <a:latin typeface="Calibri"/>
              </a:rPr>
              <a:t>  SUPER_ADMIN (el bodegón) administra el menú;
COMPANY_ADMIN gestiona empleados y métricas; el EMPLEADO
arma su pedido del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317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550" b="1">
                <a:solidFill>
                  <a:srgbClr val="8C221D"/>
                </a:solidFill>
                <a:latin typeface="Calibri"/>
              </a:rPr>
              <a:t>—  Hora de corte configurable</a:t>
            </a:r>
            <a:r>
              <a:rPr sz="1450" b="0">
                <a:solidFill>
                  <a:srgbClr val="6B6054"/>
                </a:solidFill>
                <a:latin typeface="Calibri"/>
              </a:rPr>
              <a:t>  el empleado pide antes del
horario de cierre, con recordatorio si se olvidó.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550" b="1">
                <a:solidFill>
                  <a:srgbClr val="8C221D"/>
                </a:solidFill>
                <a:latin typeface="Calibri"/>
              </a:rPr>
              <a:t>—  En producción real</a:t>
            </a:r>
            <a:r>
              <a:rPr sz="1450" b="0">
                <a:solidFill>
                  <a:srgbClr val="6B6054"/>
                </a:solidFill>
                <a:latin typeface="Calibri"/>
              </a:rPr>
              <a:t>  hoy corriendo en ariasbodegon.com, con
pedidos reales todos los días.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Funcionalidades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Autenticación JWT</a:t>
            </a:r>
            <a:r>
              <a:rPr sz="1350" b="0">
                <a:solidFill>
                  <a:srgbClr val="6B6054"/>
                </a:solidFill>
                <a:latin typeface="Calibri"/>
              </a:rPr>
              <a:t>  access + refresh token, primer ingreso y
recuperación de contraseña por email.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Catálogo con soft delete</a:t>
            </a:r>
            <a:r>
              <a:rPr sz="1350" b="0">
                <a:solidFill>
                  <a:srgbClr val="6B6054"/>
                </a:solidFill>
                <a:latin typeface="Calibri"/>
              </a:rPr>
              <a:t>  platos, categorías y acompañamientos
archivables, con resurrección al recrearlos.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Calendario de disponibilidad</a:t>
            </a:r>
            <a:r>
              <a:rPr sz="1350" b="0">
                <a:solidFill>
                  <a:srgbClr val="6B6054"/>
                </a:solidFill>
                <a:latin typeface="Calibri"/>
              </a:rPr>
              <a:t>  cada plato define en qué fechas
se ofrece.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Panel de empresa</a:t>
            </a:r>
            <a:r>
              <a:rPr sz="1350" b="0">
                <a:solidFill>
                  <a:srgbClr val="6B6054"/>
                </a:solidFill>
                <a:latin typeface="Calibri"/>
              </a:rPr>
              <a:t>  alta de empleados con email de bienvenida,
métricas de consumo y export de pedidos a Excel.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Notificaciones</a:t>
            </a:r>
            <a:r>
              <a:rPr sz="1350" b="0">
                <a:solidFill>
                  <a:srgbClr val="6B6054"/>
                </a:solidFill>
                <a:latin typeface="Calibri"/>
              </a:rPr>
              <a:t>  recordatorio de pedido pendiente (con
unsubscribe), aviso si se deshabilita algo ya pedido.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Landing + cotización</a:t>
            </a:r>
            <a:r>
              <a:rPr sz="1350" b="0">
                <a:solidFill>
                  <a:srgbClr val="6B6054"/>
                </a:solidFill>
                <a:latin typeface="Calibri"/>
              </a:rPr>
              <a:t>  presentación pública del bodegón con
formulario de contacto para nuevas empresas.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Stack tecnológico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212080" cy="502920"/>
          </a:xfrm>
          <a:prstGeom prst="rect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Java 21 + Spring Boot 4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Spring Security — JWT stateless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Spring Data JPA + Hibernate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PostgreSQL + Flyway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Resend (emails transaccionales)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Cloudflare R2 (fotos de platos)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Apache POI (export Excel)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springdoc-openapi (Swagger UI)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212080" cy="502920"/>
          </a:xfrm>
          <a:prstGeom prst="rect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889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React 19 + TypeScript + Vite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Tailwind CSS + shadcn/ui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TanStack React Query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Zustand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React Hook Form + Zod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React Router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Recharts (métricas)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B221B"/>
                </a:solidFill>
                <a:latin typeface="Calibri"/>
              </a:rPr>
              <a:t>•  Cloudflare Pages (Wrangler)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Cómo está armado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2743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00">
                <a:solidFill>
                  <a:srgbClr val="2B221B"/>
                </a:solidFill>
                <a:latin typeface="Calibri"/>
              </a:rPr>
              <a:t>Frontend</a:t>
            </a:r>
          </a:p>
          <a:p>
            <a:pPr algn="ctr"/>
            <a:r>
              <a:rPr sz="1050">
                <a:solidFill>
                  <a:srgbClr val="6B6054"/>
                </a:solidFill>
                <a:latin typeface="Calibri"/>
              </a:rPr>
              <a:t>React + Vite
Cloudflare Pages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03320" y="2971800"/>
            <a:ext cx="640080" cy="548640"/>
          </a:xfrm>
          <a:prstGeom prst="rightArrow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2651760"/>
            <a:ext cx="2926080" cy="1188720"/>
          </a:xfrm>
          <a:prstGeom prst="roundRect">
            <a:avLst/>
          </a:prstGeom>
          <a:solidFill>
            <a:srgbClr val="B82E28"/>
          </a:solidFill>
          <a:ln w="19050">
            <a:solidFill>
              <a:srgbClr val="B8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Backend API</a:t>
            </a:r>
          </a:p>
          <a:p>
            <a:pPr algn="ctr"/>
            <a:r>
              <a:rPr sz="1050">
                <a:solidFill>
                  <a:srgbClr val="6B6054"/>
                </a:solidFill>
                <a:latin typeface="Calibri"/>
              </a:rPr>
              <a:t>Spring Boot
Railway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43800" y="2971800"/>
            <a:ext cx="640080" cy="548640"/>
          </a:xfrm>
          <a:prstGeom prst="rightArrow">
            <a:avLst/>
          </a:prstGeom>
          <a:solidFill>
            <a:srgbClr val="B8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2651760"/>
            <a:ext cx="2743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00">
                <a:solidFill>
                  <a:srgbClr val="2B221B"/>
                </a:solidFill>
                <a:latin typeface="Calibri"/>
              </a:rPr>
              <a:t>PostgreSQL</a:t>
            </a:r>
          </a:p>
          <a:p>
            <a:pPr algn="ctr"/>
            <a:r>
              <a:rPr sz="1050">
                <a:solidFill>
                  <a:srgbClr val="6B6054"/>
                </a:solidFill>
                <a:latin typeface="Calibri"/>
              </a:rPr>
              <a:t>Flyway migrations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297680"/>
            <a:ext cx="1371600" cy="914400"/>
          </a:xfrm>
          <a:prstGeom prst="roundRect">
            <a:avLst/>
          </a:prstGeom>
          <a:solidFill>
            <a:srgbClr val="E7DDC8"/>
          </a:solidFill>
          <a:ln w="19050">
            <a:solidFill>
              <a:srgbClr val="E7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00">
                <a:solidFill>
                  <a:srgbClr val="2B221B"/>
                </a:solidFill>
                <a:latin typeface="Calibri"/>
              </a:rPr>
              <a:t>Resend</a:t>
            </a:r>
          </a:p>
          <a:p>
            <a:pPr algn="ctr"/>
            <a:r>
              <a:rPr sz="1050">
                <a:solidFill>
                  <a:srgbClr val="6B6054"/>
                </a:solidFill>
                <a:latin typeface="Calibri"/>
              </a:rPr>
              <a:t>emails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297680"/>
            <a:ext cx="1371600" cy="914400"/>
          </a:xfrm>
          <a:prstGeom prst="roundRect">
            <a:avLst/>
          </a:prstGeom>
          <a:solidFill>
            <a:srgbClr val="E7DDC8"/>
          </a:solidFill>
          <a:ln w="19050">
            <a:solidFill>
              <a:srgbClr val="E7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400">
                <a:solidFill>
                  <a:srgbClr val="2B221B"/>
                </a:solidFill>
                <a:latin typeface="Calibri"/>
              </a:rPr>
              <a:t>Cloudflare R2</a:t>
            </a:r>
          </a:p>
          <a:p>
            <a:pPr algn="ctr"/>
            <a:r>
              <a:rPr sz="1050">
                <a:solidFill>
                  <a:srgbClr val="6B6054"/>
                </a:solidFill>
                <a:latin typeface="Calibri"/>
              </a:rPr>
              <a:t>fotos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66360" y="3840480"/>
            <a:ext cx="0" cy="457200"/>
          </a:xfrm>
          <a:prstGeom prst="bentConnector3">
            <a:avLst/>
          </a:prstGeom>
          <a:ln w="19050">
            <a:solidFill>
              <a:srgbClr val="8C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3840480"/>
            <a:ext cx="0" cy="457200"/>
          </a:xfrm>
          <a:prstGeom prst="bentConnector3">
            <a:avLst/>
          </a:prstGeom>
          <a:ln w="19050">
            <a:solidFill>
              <a:srgbClr val="8C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5778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JWT stateless de punta a punta · CORS restringido al dominio del frontend · migraciones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aditivas (sin romper datos de producción) · JPA con ddl-auto=validate (el schema real vive en Flyway)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1EADC"/>
                </a:solidFill>
                <a:latin typeface="Georgia"/>
              </a:rPr>
              <a:t>Despliegue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10515600" cy="713232"/>
          </a:xfrm>
          <a:prstGeom prst="rect">
            <a:avLst/>
          </a:prstGeom>
          <a:solidFill>
            <a:srgbClr val="39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5856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82E28"/>
                </a:solidFill>
                <a:latin typeface="Calibri"/>
              </a:rPr>
              <a:t>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2585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EADC"/>
                </a:solidFill>
                <a:latin typeface="Calibri"/>
              </a:rPr>
              <a:t>ariasbodegon.com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58568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Cliente real — no usar para pruebas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53512"/>
            <a:ext cx="10515600" cy="713232"/>
          </a:xfrm>
          <a:prstGeom prst="rect">
            <a:avLst/>
          </a:prstGeom>
          <a:solidFill>
            <a:srgbClr val="2B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82E28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6324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EADC"/>
                </a:solidFill>
                <a:latin typeface="Calibri"/>
              </a:rPr>
              <a:t>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API +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58184"/>
            <a:ext cx="10515600" cy="713232"/>
          </a:xfrm>
          <a:prstGeom prst="rect">
            <a:avLst/>
          </a:prstGeom>
          <a:solidFill>
            <a:srgbClr val="39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6791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82E28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6791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EADC"/>
                </a:solidFill>
                <a:latin typeface="Calibri"/>
              </a:rPr>
              <a:t>Cloudflare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6791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Build estático vía Wrangler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62856"/>
            <a:ext cx="10515600" cy="713232"/>
          </a:xfrm>
          <a:prstGeom prst="rect">
            <a:avLst/>
          </a:prstGeom>
          <a:solidFill>
            <a:srgbClr val="2B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72584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82E28"/>
                </a:solidFill>
                <a:latin typeface="Calibri"/>
              </a:rPr>
              <a:t>Docs de la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67258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EADC"/>
                </a:solidFill>
                <a:latin typeface="Calibri"/>
              </a:rPr>
              <a:t>/swagger-ui.html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72584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OpenAPI + botón Authorize (JWT)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67528"/>
            <a:ext cx="10515600" cy="713232"/>
          </a:xfrm>
          <a:prstGeom prst="rect">
            <a:avLst/>
          </a:prstGeom>
          <a:solidFill>
            <a:srgbClr val="39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77256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82E28"/>
                </a:solidFill>
                <a:latin typeface="Calibri"/>
              </a:rPr>
              <a:t>Demo / staging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47725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EADC"/>
                </a:solidFill>
                <a:latin typeface="Calibri"/>
              </a:rPr>
              <a:t>pendiente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77256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054"/>
                </a:solidFill>
                <a:latin typeface="Calibri"/>
              </a:rPr>
              <a:t>Mismo código, entorno aislado para pruebas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B82E28"/>
                </a:solidFill>
                <a:latin typeface="Calibri"/>
              </a:rPr>
              <a:t>BALANCE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B221B"/>
                </a:solidFill>
                <a:latin typeface="Georgia"/>
              </a:rPr>
              <a:t>Qué me llevo de este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Un producto real, no un ejercicio</a:t>
            </a:r>
            <a:r>
              <a:rPr sz="1350" b="0">
                <a:solidFill>
                  <a:srgbClr val="6B6054"/>
                </a:solidFill>
                <a:latin typeface="Calibri"/>
              </a:rPr>
              <a:t>  diseñar y sostener una app que un
cliente real usa todos los días cambia las prioridades: hay que pensar
en migraciones seguras, errores en producción y datos reales.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Modelar el negocio, no solo el código</a:t>
            </a:r>
            <a:r>
              <a:rPr sz="1350" b="0">
                <a:solidFill>
                  <a:srgbClr val="6B6054"/>
                </a:solidFill>
                <a:latin typeface="Calibri"/>
              </a:rPr>
              <a:t>  el multi-tenant por empresa,
el soft delete con resurrección y la hora de corte salieron de reglas
reales del bodegón, no de un tutorial.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8C221D"/>
                </a:solidFill>
                <a:latin typeface="Calibri"/>
              </a:rPr>
              <a:t>—  Resolver problemas de producción de verdad</a:t>
            </a:r>
            <a:r>
              <a:rPr sz="1350" b="0">
                <a:solidFill>
                  <a:srgbClr val="6B6054"/>
                </a:solidFill>
                <a:latin typeface="Calibri"/>
              </a:rPr>
              <a:t>  rate limits del proveedor
de email, fuentes faltantes en el contenedor para exportar Excel,
sincronización de JPA — bugs que solo aparecen fuera del entorno local.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054"/>
                </a:solidFill>
                <a:latin typeface="Calibri"/>
              </a:rPr>
              <a:t>( completar / personalizar con tu propia reflexión antes de la entrega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600">
                <a:solidFill>
                  <a:srgbClr val="F1EADC"/>
                </a:solidFill>
                <a:latin typeface="Georgia"/>
              </a:rPr>
              <a:t>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1EADC"/>
                </a:solidFill>
                <a:latin typeface="Calibri"/>
              </a:rPr>
              <a:t>B O D E G Ó N   ·   P A R R I L L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EADC"/>
                </a:solidFill>
                <a:latin typeface="Georgia"/>
              </a:rPr>
              <a:t>Gracias — enlaces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054"/>
                </a:solidFill>
                <a:latin typeface="Calibri"/>
              </a:rPr>
              <a:t>Repositorio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97180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EADC"/>
                </a:solidFill>
                <a:latin typeface="Calibri"/>
              </a:rPr>
              <a:t>github.com/NevadoSantiago/Arias-Api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38728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054"/>
                </a:solidFill>
                <a:latin typeface="Calibri"/>
              </a:rPr>
              <a:t>Repositorio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38728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EADC"/>
                </a:solidFill>
                <a:latin typeface="Calibri"/>
              </a:rPr>
              <a:t>github.com/NevadoSantiago/Arias-Front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05656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054"/>
                </a:solidFill>
                <a:latin typeface="Calibri"/>
              </a:rPr>
              <a:t>Aplicación en producción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105656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EADC"/>
                </a:solidFill>
                <a:latin typeface="Calibri"/>
              </a:rPr>
              <a:t>ariasbodegon.com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72584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054"/>
                </a:solidFill>
                <a:latin typeface="Calibri"/>
              </a:rPr>
              <a:t>Demo / entorno de pruebas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672584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EADC"/>
                </a:solidFill>
                <a:latin typeface="Calibri"/>
              </a:rPr>
              <a:t>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39512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054"/>
                </a:solidFill>
                <a:latin typeface="Calibri"/>
              </a:rPr>
              <a:t>Video explicativo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239512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EADC"/>
                </a:solidFill>
                <a:latin typeface="Calibri"/>
              </a:rPr>
              <a:t>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054"/>
                </a:solidFill>
                <a:latin typeface="Calibri"/>
              </a:rPr>
              <a:t>Contacto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80644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1EADC"/>
                </a:solidFill>
                <a:latin typeface="Calibri"/>
              </a:rPr>
              <a:t>nevadosantiago97@gmail.com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Arias — TFM Máster de Desarrollo con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05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