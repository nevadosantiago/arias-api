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B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1234440"/>
            <a:ext cx="12191695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B82E28"/>
                </a:solidFill>
                <a:latin typeface="Georgia"/>
                <a:ea typeface="Georgia"/>
                <a:cs typeface="Georgia"/>
                <a:sym typeface="Georgia"/>
              </a:rPr>
              <a:t>ARIAS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0" y="2478024"/>
            <a:ext cx="12191695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B O D E G Ó N   ·   P A R R I L L A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547207" y="3246120"/>
            <a:ext cx="1097280" cy="27940"/>
          </a:xfrm>
          <a:prstGeom prst="rect">
            <a:avLst/>
          </a:prstGeom>
          <a:solidFill>
            <a:srgbClr val="B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3520440"/>
            <a:ext cx="103628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B221B"/>
                </a:solidFill>
                <a:latin typeface="Georgia"/>
                <a:ea typeface="Georgia"/>
                <a:cs typeface="Georgia"/>
                <a:sym typeface="Georgia"/>
              </a:rPr>
              <a:t>Sistema de pedidos empresariales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645920" y="4251960"/>
            <a:ext cx="8899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Una plataforma real para que las empresas de la zona pidan el almuerzo diario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de sus empleados, y el bodegón gestione todo desde un mismo lugar.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571500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Trabajo de Fin de Máster · Máster de Desarrollo con IA — BIG School</a:t>
            </a:r>
            <a:endParaRPr/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Santiago Nevado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22960" y="59436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EL CONTEXTO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B221B"/>
                </a:solidFill>
                <a:latin typeface="Georgia"/>
                <a:ea typeface="Georgia"/>
                <a:cs typeface="Georgia"/>
                <a:sym typeface="Georgia"/>
              </a:rPr>
              <a:t>Un bodegón real, con clientes reales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22960" y="233172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Arias</a:t>
            </a:r>
            <a: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bodegón-parrilla en funcionamiento desde 2015, con empresas de la zona</a:t>
            </a:r>
            <a:b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que encargan el almuerzo de sus empleados todos los días.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El problema</a:t>
            </a:r>
            <a: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esa coordinación se manejaba a mano: planillas, WhatsApp, llamados —</a:t>
            </a:r>
            <a:b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sin catálogo único, sin control de precios por empresa, sin visibilidad de</a:t>
            </a:r>
            <a:b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qué se pidió ni cuándo hay que cerrar el pedido.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El objetivo</a:t>
            </a:r>
            <a: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reemplazar ese proceso manual por una aplicación real que hoy usa el</a:t>
            </a:r>
            <a:b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bodegón y sus empresas clientes en producción.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822960" y="59436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B221B"/>
                </a:solidFill>
                <a:latin typeface="Georgia"/>
                <a:ea typeface="Georgia"/>
                <a:cs typeface="Georgia"/>
                <a:sym typeface="Georgia"/>
              </a:rPr>
              <a:t>Qué es Arias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22960" y="2331720"/>
            <a:ext cx="51206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Multi-tenant por empresa</a:t>
            </a: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cada empresa cliente tiene su propio</a:t>
            </a:r>
            <a:b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precio por categoría y su propia nómina de empleados.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Tres roles</a:t>
            </a: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SUPER_ADMIN (el bodegón) administra el menú;</a:t>
            </a:r>
            <a:b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COMPANY_ADMIN gestiona empleados y métricas; el EMPLEADO</a:t>
            </a:r>
            <a:b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arma su pedido del día.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09360" y="2331720"/>
            <a:ext cx="51206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Hora de corte configurable</a:t>
            </a: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el empleado pide antes del</a:t>
            </a:r>
            <a:b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horario de cierre, con recordatorio si se olvidó.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En producción real</a:t>
            </a: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hoy corriendo en ariasbodegon.com, con</a:t>
            </a:r>
            <a:b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pedidos reales todos los días.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22960" y="594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FUNCIONALIDADES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22960" y="10515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B221B"/>
                </a:solidFill>
                <a:latin typeface="Georgia"/>
                <a:ea typeface="Georgia"/>
                <a:cs typeface="Georgia"/>
                <a:sym typeface="Georgia"/>
              </a:rPr>
              <a:t>Funcionalidades principales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22960" y="2240280"/>
            <a:ext cx="5120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Autenticación JWT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access + refresh token, primer ingreso y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recuperación de contraseña por email.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Catálogo con soft delete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platos, categorías y acompañamientos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archivables, con resurrección al recrearlos.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Calendario de disponibilidad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cada plato define en qué fechas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se ofrece.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09360" y="2240280"/>
            <a:ext cx="5120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Panel de empresa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alta de empleados con email de bienvenida,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métricas de consumo y export de pedidos a Excel.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Notificaciones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recordatorio de pedido pendiente (con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unsubscribe), aviso si se deshabilita algo ya pedido.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Landing + cotización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presentación pública del bodegón con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formulario de contacto para nuevas empresas.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TECNOLOGÍA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B221B"/>
                </a:solidFill>
                <a:latin typeface="Georgia"/>
                <a:ea typeface="Georgia"/>
                <a:cs typeface="Georgia"/>
                <a:sym typeface="Georgia"/>
              </a:rPr>
              <a:t>Stack tecnológico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822960" y="2103120"/>
            <a:ext cx="52120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7D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822960" y="2103120"/>
            <a:ext cx="5212080" cy="502920"/>
          </a:xfrm>
          <a:prstGeom prst="rect">
            <a:avLst/>
          </a:prstGeom>
          <a:solidFill>
            <a:srgbClr val="B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22960" y="210312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143000" y="2788920"/>
            <a:ext cx="45720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Java 21 + Spring Boot 4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Spring Security — JWT stateless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Spring Data JPA + Hibernate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PostgreSQL + Flyway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Resend (emails transaccionales)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Cloudflare R2 (fotos de platos)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Apache POI (export Excel)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springdoc-openapi (Swagger UI)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6309360" y="2103120"/>
            <a:ext cx="52120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7D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309360" y="2103120"/>
            <a:ext cx="5212080" cy="502920"/>
          </a:xfrm>
          <a:prstGeom prst="rect">
            <a:avLst/>
          </a:prstGeom>
          <a:solidFill>
            <a:srgbClr val="B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309360" y="210312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629400" y="2788920"/>
            <a:ext cx="45720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React 19 + TypeScript + Vite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Tailwind CSS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TanStack React Query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React Hook Form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React Router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Recharts (métricas)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•  Cloudflare Pages (Wrangler)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B221B"/>
                </a:solidFill>
                <a:latin typeface="Georgia"/>
                <a:ea typeface="Georgia"/>
                <a:cs typeface="Georgia"/>
                <a:sym typeface="Georgia"/>
              </a:rPr>
              <a:t>Cómo está armado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822960" y="2651760"/>
            <a:ext cx="274320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8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React + Vite</a:t>
            </a:r>
            <a:b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Cloudflare Pages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3703320" y="2971800"/>
            <a:ext cx="640080" cy="5486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480560" y="2651760"/>
            <a:ext cx="2926080" cy="1188720"/>
          </a:xfrm>
          <a:prstGeom prst="roundRect">
            <a:avLst>
              <a:gd fmla="val 16667" name="adj"/>
            </a:avLst>
          </a:prstGeom>
          <a:solidFill>
            <a:srgbClr val="B82E28"/>
          </a:solidFill>
          <a:ln cap="flat" cmpd="sng" w="19050">
            <a:solidFill>
              <a:srgbClr val="B8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API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b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Railway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543800" y="2971800"/>
            <a:ext cx="640080" cy="5486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8321040" y="2651760"/>
            <a:ext cx="274320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8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Flyway migrations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480560" y="4297680"/>
            <a:ext cx="1371600" cy="914400"/>
          </a:xfrm>
          <a:prstGeom prst="roundRect">
            <a:avLst>
              <a:gd fmla="val 16667" name="adj"/>
            </a:avLst>
          </a:prstGeom>
          <a:solidFill>
            <a:srgbClr val="E7DDC8"/>
          </a:solidFill>
          <a:ln cap="flat" cmpd="sng" w="19050">
            <a:solidFill>
              <a:srgbClr val="E7D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Resend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emails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035040" y="4297680"/>
            <a:ext cx="1371600" cy="914400"/>
          </a:xfrm>
          <a:prstGeom prst="roundRect">
            <a:avLst>
              <a:gd fmla="val 16667" name="adj"/>
            </a:avLst>
          </a:prstGeom>
          <a:solidFill>
            <a:srgbClr val="E7DDC8"/>
          </a:solidFill>
          <a:ln cap="flat" cmpd="sng" w="19050">
            <a:solidFill>
              <a:srgbClr val="E7D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21B"/>
                </a:solidFill>
                <a:latin typeface="Calibri"/>
                <a:ea typeface="Calibri"/>
                <a:cs typeface="Calibri"/>
                <a:sym typeface="Calibri"/>
              </a:rPr>
              <a:t>Cloudflare R2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fotos</a:t>
            </a:r>
            <a:endParaRPr/>
          </a:p>
        </p:txBody>
      </p:sp>
      <p:cxnSp>
        <p:nvCxnSpPr>
          <p:cNvPr id="156" name="Google Shape;156;p18"/>
          <p:cNvCxnSpPr/>
          <p:nvPr/>
        </p:nvCxnSpPr>
        <p:spPr>
          <a:xfrm flipH="1" rot="-5400000">
            <a:off x="4938060" y="4068780"/>
            <a:ext cx="4572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8C22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7" name="Google Shape;157;p18"/>
          <p:cNvCxnSpPr/>
          <p:nvPr/>
        </p:nvCxnSpPr>
        <p:spPr>
          <a:xfrm flipH="1" rot="-5400000">
            <a:off x="6492540" y="4068780"/>
            <a:ext cx="4572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8C22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8"/>
          <p:cNvSpPr txBox="1"/>
          <p:nvPr/>
        </p:nvSpPr>
        <p:spPr>
          <a:xfrm>
            <a:off x="822960" y="557784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JWT stateless de punta a punta · CORS restringido al dominio del frontend · migraciones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aditivas (sin romper datos de producción) · JPA con ddl-auto=validate (el schema real vive en Flyway)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2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EN PRODUCCIÓN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1EADC"/>
                </a:solidFill>
                <a:latin typeface="Georgia"/>
                <a:ea typeface="Georgia"/>
                <a:cs typeface="Georgia"/>
                <a:sym typeface="Georgia"/>
              </a:rPr>
              <a:t>Despliegue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822960" y="2148840"/>
            <a:ext cx="10515600" cy="713232"/>
          </a:xfrm>
          <a:prstGeom prst="rect">
            <a:avLst/>
          </a:prstGeom>
          <a:solidFill>
            <a:srgbClr val="392E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051560" y="2258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3566160" y="225856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ariasbodegon.com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492240" y="225856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Cliente real — no usar para pruebas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822960" y="2953512"/>
            <a:ext cx="10515600" cy="713232"/>
          </a:xfrm>
          <a:prstGeom prst="rect">
            <a:avLst/>
          </a:prstGeom>
          <a:solidFill>
            <a:srgbClr val="2B22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051560" y="30632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3566160" y="3063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Railway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492240" y="306324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API + PostgreSQL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22960" y="3758184"/>
            <a:ext cx="10515600" cy="713232"/>
          </a:xfrm>
          <a:prstGeom prst="rect">
            <a:avLst/>
          </a:prstGeom>
          <a:solidFill>
            <a:srgbClr val="392E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051560" y="38679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3566160" y="386791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Cloudflare Pages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492240" y="3867912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Build estático vía Wrangler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822960" y="4562856"/>
            <a:ext cx="10515600" cy="713232"/>
          </a:xfrm>
          <a:prstGeom prst="rect">
            <a:avLst/>
          </a:prstGeom>
          <a:solidFill>
            <a:srgbClr val="2B22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1051560" y="467258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Docs de la API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3566160" y="4672584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/swagger-ui.html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492240" y="4672584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OpenAPI + botón Authorize (JWT)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822960" y="5367528"/>
            <a:ext cx="10515600" cy="713232"/>
          </a:xfrm>
          <a:prstGeom prst="rect">
            <a:avLst/>
          </a:prstGeom>
          <a:solidFill>
            <a:srgbClr val="392E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051560" y="547725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Demo / staging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3566160" y="5477256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https://demo.ariasbodegon.com/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492240" y="5477256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Mismo código, entorno aislado para pruebas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2E28"/>
                </a:solidFill>
                <a:latin typeface="Calibri"/>
                <a:ea typeface="Calibri"/>
                <a:cs typeface="Calibri"/>
                <a:sym typeface="Calibri"/>
              </a:rPr>
              <a:t>BALANCE PERSONAL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B221B"/>
                </a:solidFill>
                <a:latin typeface="Georgia"/>
                <a:ea typeface="Georgia"/>
                <a:cs typeface="Georgia"/>
                <a:sym typeface="Georgia"/>
              </a:rPr>
              <a:t>Qué me llevo de este proyecto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22960" y="2148840"/>
            <a:ext cx="10241400" cy="26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Un producto real</a:t>
            </a:r>
            <a:r>
              <a:rPr b="1" lang="en-US" sz="1450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diseñar y sostener una app que un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cliente real usa todos los días cambia las prioridades: hay que pensar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en migraciones seguras, errores en producción y datos reales.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Modelar el negocio, no solo el código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el multi-tenant por empresa,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el soft delete con resurrección y la hora de corte salieron de reglas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reales del bodegón, no de un tutorial.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8C221D"/>
                </a:solidFill>
                <a:latin typeface="Calibri"/>
                <a:ea typeface="Calibri"/>
                <a:cs typeface="Calibri"/>
                <a:sym typeface="Calibri"/>
              </a:rPr>
              <a:t>—  Resolver problemas de producción de verdad</a:t>
            </a: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  rate limits del proveedor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de email, fuentes faltantes en el contenedor para exportar Excel,</a:t>
            </a:r>
            <a:b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sincronización de JPA — bugs que solo aparecen fuera del entorno local.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2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822960" y="73152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1EADC"/>
                </a:solidFill>
                <a:latin typeface="Georgia"/>
                <a:ea typeface="Georgia"/>
                <a:cs typeface="Georgia"/>
                <a:sym typeface="Georgia"/>
              </a:rPr>
              <a:t>ARIAS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B O D E G Ó N   ·   P A R R I L L A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EADC"/>
                </a:solidFill>
                <a:latin typeface="Georgia"/>
                <a:ea typeface="Georgia"/>
                <a:cs typeface="Georgia"/>
                <a:sym typeface="Georgia"/>
              </a:rPr>
              <a:t>Gracias — enlaces del proyecto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22960" y="2971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Repositorio backend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206240" y="29718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github.com/NevadoSantiago/Arias-Api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22960" y="35387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Repositorio frontend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206240" y="3538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github.com/NevadoSantiago/Arias-Front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22960" y="4105656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Aplicación en producción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206240" y="4105656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ariasbodegon.com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22960" y="4672584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Demo / entorno de pruebas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206240" y="4672584"/>
            <a:ext cx="68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https://demo.ariasbodegon.com/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22960" y="523951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Video explicativo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206240" y="5239512"/>
            <a:ext cx="68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https://www.youtube.com/watch?v=g8qNCPL2hLI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22960" y="58064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Contacto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206240" y="5806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EADC"/>
                </a:solidFill>
                <a:latin typeface="Calibri"/>
                <a:ea typeface="Calibri"/>
                <a:cs typeface="Calibri"/>
                <a:sym typeface="Calibri"/>
              </a:rPr>
              <a:t>nevadosantiago97@gmail.com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Arias — TFM Máster de Desarrollo con IA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054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